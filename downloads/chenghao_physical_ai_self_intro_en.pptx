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081c04e29044d4" /><Relationship Type="http://schemas.openxmlformats.org/officeDocument/2006/relationships/extended-properties" Target="/docProps/app.xml" Id="R682410a804b14c93" /><Relationship Type="http://schemas.openxmlformats.org/officeDocument/2006/relationships/officeDocument" Target="/ppt/presentation.xml" Id="R4a5692e0d2aa482f" /></Relationships>
</file>

<file path=ppt/presentation.xml><?xml version="1.0" encoding="utf-8"?>
<p:presentation xmlns:p="http://schemas.openxmlformats.org/presentationml/2006/main">
  <p:sldMasterIdLst>
    <p:sldMasterId xmlns:r="http://schemas.openxmlformats.org/officeDocument/2006/relationships" id="2147483648" r:id="Rfae4b0cea297437e"/>
  </p:sldMasterIdLst>
  <p:notesMasterIdLst>
    <p:notesMasterId xmlns:r="http://schemas.openxmlformats.org/officeDocument/2006/relationships" r:id="R75aca69d15804b0e"/>
  </p:notesMasterIdLst>
  <p:sldIdLst>
    <p:sldId xmlns:r="http://schemas.openxmlformats.org/officeDocument/2006/relationships" id="256" r:id="Rc6b5742e18354a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a8ab62b5f543f7" /><Relationship Type="http://schemas.openxmlformats.org/officeDocument/2006/relationships/slideMaster" Target="/ppt/slideMasters/slideMaster1.xml" Id="Rfae4b0cea297437e" /><Relationship Type="http://schemas.openxmlformats.org/officeDocument/2006/relationships/notesMaster" Target="/ppt/notesMasters/notesMaster1.xml" Id="R75aca69d15804b0e" /><Relationship Type="http://schemas.openxmlformats.org/officeDocument/2006/relationships/presProps" Target="/ppt/presProps.xml" Id="R33c8e470f9a04c0f" /><Relationship Type="http://schemas.openxmlformats.org/officeDocument/2006/relationships/tableStyles" Target="/ppt/tableStyles.xml" Id="Ra3a84c8427794ad8" /><Relationship Type="http://schemas.openxmlformats.org/officeDocument/2006/relationships/slide" Target="/ppt/slides/slide1.xml" Id="Rc6b5742e18354a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4f728fef6c45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0be93161e448f6" /><Relationship Type="http://schemas.openxmlformats.org/officeDocument/2006/relationships/notesMaster" Target="/ppt/notesMasters/notesMaster1.xml" Id="Rae832f9a798242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Dr. QUAN CHENGHAO, or 권성호. I worked at universities and research institutes before joining Dogu Robotics in 2020, driven by an interest in lidar. My roles have spanned software teams, R&amp;D leadership, and CTO. Since early 2026, I have led Dogu X, an organization modeled on Google X.</a:t>
            </a:r>
          </a:p>
          <a:p xmlns:a="http://schemas.openxmlformats.org/drawingml/2006/main">
            <a:r>
              <a:t/>
            </a:r>
          </a:p>
          <a:p xmlns:a="http://schemas.openxmlformats.org/drawingml/2006/main">
            <a:r>
              <a:t>I have led the development of wheeled patrol and security robots and fleet monitoring services, with experience operating 130 robots across Korea. Today, my focus includes quadruped robots with four wheels and robotic arms.</a:t>
            </a:r>
          </a:p>
          <a:p xmlns:a="http://schemas.openxmlformats.org/drawingml/2006/main">
            <a:r>
              <a:t/>
            </a:r>
          </a:p>
          <a:p xmlns:a="http://schemas.openxmlformats.org/drawingml/2006/main">
            <a:r>
              <a:t>I believe AI is bringing major changes to both software development and physical security. To take an active part in that transition, I am exploring VLM/VLA, reinforcement learning, and robot intelligence, with a focus on applying new technologies to real operational challenges.</a:t>
            </a:r>
          </a:p>
          <a:p xmlns:a="http://schemas.openxmlformats.org/drawingml/2006/main">
            <a:r>
              <a:t/>
            </a:r>
          </a:p>
          <a:p xmlns:a="http://schemas.openxmlformats.org/drawingml/2006/main">
            <a:r>
              <a:t>I would like to share lessons from deploying and operating robots, and work with people from different fields to discuss and test new patrol and security scenarios. My ambition is to become No. 1 in this field. Please scan the QR code and get in touch about robot operations or potential collaboration. Thank you.</a:t>
            </a:r>
          </a:p>
          <a:p xmlns:a="http://schemas.openxmlformats.org/drawingml/2006/main">
            <a:r>
              <a:t/>
            </a:r>
          </a:p>
          <a:p xmlns:a="http://schemas.openxmlformats.org/drawingml/2006/main">
            <a:r>
              <a:t>Profile: https://chquandogong.github.io/CHENGHAO-QUAN/?lang=en</a:t>
            </a:r>
          </a:p>
          <a:p xmlns:a="http://schemas.openxmlformats.org/drawingml/2006/main">
            <a:r>
              <a:t>LinkedIn: https://www.linkedin.com/in/chenghao-quan/</a:t>
            </a:r>
          </a:p>
          <a:p xmlns:a="http://schemas.openxmlformats.org/drawingml/2006/main">
            <a:r>
              <a:t>Company: https://www.dogurobotics.com/</a:t>
            </a:r>
          </a:p>
          <a:p xmlns:a="http://schemas.openxmlformats.org/drawingml/2006/main">
            <a:r>
              <a:t>Biography and operating figures supplied by the presenter. Brand illustration: Nuri, the approved AI-generated cloud-fox companion. Original illustration reused without redesign.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77f1dcdde847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28e91c5a7a49df" /><Relationship Type="http://schemas.openxmlformats.org/officeDocument/2006/relationships/slideLayout" Target="/ppt/slideLayouts/slideLayout1.xml" Id="R53c0d98f5ab340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c0d98f5ab340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15bd32ebe64425" /><Relationship Type="http://schemas.openxmlformats.org/officeDocument/2006/relationships/image" Target="/ppt/media/image.png" Id="R6ce3dd04ae4347b2" /><Relationship Type="http://schemas.openxmlformats.org/officeDocument/2006/relationships/image" Target="/ppt/media/image2.png" Id="Re7ed39bf36634307" /><Relationship Type="http://schemas.openxmlformats.org/officeDocument/2006/relationships/notesSlide" Target="/ppt/notesSlides/notesSlide1.xml" Id="Ra5f06f721edf44bd" /></Relationships>
</file>

<file path=ppt/slides/slide1.xml><?xml version="1.0" encoding="utf-8"?>
<p:sld xmlns:p="http://schemas.openxmlformats.org/presentationml/2006/main">
  <p:cSld>
    <p:bg>
      <p:bgPr>
        <a:solidFill xmlns:a="http://schemas.openxmlformats.org/drawingml/2006/main">
          <a:srgbClr val="F5F0E5"/>
        </a:solidFill>
      </p:bgPr>
    </p:bg>
    <p:spTree>
      <p:nvGrpSpPr>
        <p:cNvPr id="1" name=""/>
        <p:cNvGrpSpPr/>
        <p:nvPr/>
      </p:nvGrpSpPr>
      <p:grpSpPr>
        <a:xfrm xmlns:a="http://schemas.openxmlformats.org/drawingml/2006/main"/>
      </p:grpSpPr>
      <p:sp>
        <p:nvSpPr>
          <p:cNvPr id="4" name="program-eyebrow">
            <a:extLst xmlns:a="http://schemas.openxmlformats.org/drawingml/2006/main">
              <a:ext uri="{FF2B5EF4-FFF2-40B4-BE49-F238E27FC236}">
                <a16:creationId xmlns:a16="http://schemas.microsoft.com/office/drawing/2014/main" id="{718DEC17-B537-4BFD-A2CF-C8D16DE8ADE5}"/>
              </a:ext>
            </a:extLst>
          </p:cNvPr>
          <p:cNvSpPr>
            <a:spLocks xmlns:a="http://schemas.openxmlformats.org/drawingml/2006/main" noGrp="1"/>
          </p:cNvSpPr>
          <p:nvPr/>
        </p:nvSpPr>
        <p:spPr>
          <a:xfrm xmlns:a="http://schemas.openxmlformats.org/drawingml/2006/main">
            <a:off x="609600" y="40005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2456D8"/>
                </a:solidFill>
                <a:latin typeface="Malgun Gothic"/>
                <a:ea typeface="Malgun Gothic"/>
                <a:cs typeface="Malgun Gothic"/>
              </a:defRPr>
            </a:defPPr>
            <a:lvl1pPr algn="l">
              <a:defRPr sz="1350" b="1">
                <a:solidFill>
                  <a:srgbClr val="2456D8"/>
                </a:solidFill>
                <a:latin typeface="Malgun Gothic"/>
                <a:ea typeface="Malgun Gothic"/>
                <a:cs typeface="Malgun Gothic"/>
              </a:defRPr>
            </a:lvl1pPr>
            <a:lvl2pPr algn="l">
              <a:defRPr sz="1350" b="1">
                <a:solidFill>
                  <a:srgbClr val="2456D8"/>
                </a:solidFill>
                <a:latin typeface="Malgun Gothic"/>
                <a:ea typeface="Malgun Gothic"/>
                <a:cs typeface="Malgun Gothic"/>
              </a:defRPr>
            </a:lvl2pPr>
            <a:lvl3pPr algn="l">
              <a:defRPr sz="1350" b="1">
                <a:solidFill>
                  <a:srgbClr val="2456D8"/>
                </a:solidFill>
                <a:latin typeface="Malgun Gothic"/>
                <a:ea typeface="Malgun Gothic"/>
                <a:cs typeface="Malgun Gothic"/>
              </a:defRPr>
            </a:lvl3pPr>
            <a:lvl4pPr algn="l">
              <a:defRPr sz="1350" b="1">
                <a:solidFill>
                  <a:srgbClr val="2456D8"/>
                </a:solidFill>
                <a:latin typeface="Malgun Gothic"/>
                <a:ea typeface="Malgun Gothic"/>
                <a:cs typeface="Malgun Gothic"/>
              </a:defRPr>
            </a:lvl4pPr>
            <a:lvl5pPr algn="l">
              <a:defRPr sz="1350" b="1">
                <a:solidFill>
                  <a:srgbClr val="2456D8"/>
                </a:solidFill>
                <a:latin typeface="Malgun Gothic"/>
                <a:ea typeface="Malgun Gothic"/>
                <a:cs typeface="Malgun Gothic"/>
              </a:defRPr>
            </a:lvl5pPr>
            <a:lvl6pPr algn="l">
              <a:defRPr sz="1350" b="1">
                <a:solidFill>
                  <a:srgbClr val="2456D8"/>
                </a:solidFill>
                <a:latin typeface="Malgun Gothic"/>
                <a:ea typeface="Malgun Gothic"/>
                <a:cs typeface="Malgun Gothic"/>
              </a:defRPr>
            </a:lvl6pPr>
            <a:lvl7pPr algn="l">
              <a:defRPr sz="1350" b="1">
                <a:solidFill>
                  <a:srgbClr val="2456D8"/>
                </a:solidFill>
                <a:latin typeface="Malgun Gothic"/>
                <a:ea typeface="Malgun Gothic"/>
                <a:cs typeface="Malgun Gothic"/>
              </a:defRPr>
            </a:lvl7pPr>
            <a:lvl8pPr algn="l">
              <a:defRPr sz="1350" b="1">
                <a:solidFill>
                  <a:srgbClr val="2456D8"/>
                </a:solidFill>
                <a:latin typeface="Malgun Gothic"/>
                <a:ea typeface="Malgun Gothic"/>
                <a:cs typeface="Malgun Gothic"/>
              </a:defRPr>
            </a:lvl8pPr>
            <a:lvl9pPr algn="l">
              <a:defRPr sz="1350" b="1">
                <a:solidFill>
                  <a:srgbClr val="2456D8"/>
                </a:solidFill>
                <a:latin typeface="Malgun Gothic"/>
                <a:ea typeface="Malgun Gothic"/>
                <a:cs typeface="Malgun Gothic"/>
              </a:defRPr>
            </a:lvl9pPr>
          </a:lstStyle>
          <a:p xmlns:a="http://schemas.openxmlformats.org/drawingml/2006/main">
            <a:pPr algn="l">
              <a:lnSpc>
                <a:spcPct val="112000"/>
              </a:lnSpc>
              <a:buNone/>
              <a:defRPr sz="1350" b="1">
                <a:solidFill>
                  <a:srgbClr val="2456D8"/>
                </a:solidFill>
                <a:latin typeface="Malgun Gothic"/>
                <a:ea typeface="Malgun Gothic"/>
                <a:cs typeface="Malgun Gothic"/>
              </a:defRPr>
            </a:pPr>
            <a:r>
              <a:rPr sz="1350" b="1">
                <a:solidFill>
                  <a:srgbClr val="2456D8"/>
                </a:solidFill>
                <a:latin typeface="Malgun Gothic"/>
                <a:ea typeface="Malgun Gothic"/>
                <a:cs typeface="Malgun Gothic"/>
              </a:rPr>
              <a:t>Physical AI · Security Robotics</a:t>
            </a:r>
          </a:p>
        </p:txBody>
      </p:sp>
      <p:sp>
        <p:nvSpPr>
          <p:cNvPr id="5" name="main-title">
            <a:extLst xmlns:a="http://schemas.openxmlformats.org/drawingml/2006/main">
              <a:ext uri="{FF2B5EF4-FFF2-40B4-BE49-F238E27FC236}">
                <a16:creationId xmlns:a16="http://schemas.microsoft.com/office/drawing/2014/main" id="{7AE07AB0-4576-4231-9F3B-E9A85DCB380A}"/>
              </a:ext>
            </a:extLst>
          </p:cNvPr>
          <p:cNvSpPr>
            <a:spLocks xmlns:a="http://schemas.openxmlformats.org/drawingml/2006/main" noGrp="1"/>
          </p:cNvSpPr>
          <p:nvPr/>
        </p:nvSpPr>
        <p:spPr>
          <a:xfrm xmlns:a="http://schemas.openxmlformats.org/drawingml/2006/main">
            <a:off x="571500" y="809625"/>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350" b="1">
                <a:solidFill>
                  <a:srgbClr val="14243A"/>
                </a:solidFill>
                <a:latin typeface="Segoe UI"/>
                <a:ea typeface="Segoe UI"/>
                <a:cs typeface="Segoe UI"/>
              </a:defRPr>
            </a:defPPr>
            <a:lvl1pPr algn="l">
              <a:defRPr sz="4350" b="1">
                <a:solidFill>
                  <a:srgbClr val="14243A"/>
                </a:solidFill>
                <a:latin typeface="Segoe UI"/>
                <a:ea typeface="Segoe UI"/>
                <a:cs typeface="Segoe UI"/>
              </a:defRPr>
            </a:lvl1pPr>
            <a:lvl2pPr algn="l">
              <a:defRPr sz="4350" b="1">
                <a:solidFill>
                  <a:srgbClr val="14243A"/>
                </a:solidFill>
                <a:latin typeface="Segoe UI"/>
                <a:ea typeface="Segoe UI"/>
                <a:cs typeface="Segoe UI"/>
              </a:defRPr>
            </a:lvl2pPr>
            <a:lvl3pPr algn="l">
              <a:defRPr sz="4350" b="1">
                <a:solidFill>
                  <a:srgbClr val="14243A"/>
                </a:solidFill>
                <a:latin typeface="Segoe UI"/>
                <a:ea typeface="Segoe UI"/>
                <a:cs typeface="Segoe UI"/>
              </a:defRPr>
            </a:lvl3pPr>
            <a:lvl4pPr algn="l">
              <a:defRPr sz="4350" b="1">
                <a:solidFill>
                  <a:srgbClr val="14243A"/>
                </a:solidFill>
                <a:latin typeface="Segoe UI"/>
                <a:ea typeface="Segoe UI"/>
                <a:cs typeface="Segoe UI"/>
              </a:defRPr>
            </a:lvl4pPr>
            <a:lvl5pPr algn="l">
              <a:defRPr sz="4350" b="1">
                <a:solidFill>
                  <a:srgbClr val="14243A"/>
                </a:solidFill>
                <a:latin typeface="Segoe UI"/>
                <a:ea typeface="Segoe UI"/>
                <a:cs typeface="Segoe UI"/>
              </a:defRPr>
            </a:lvl5pPr>
            <a:lvl6pPr algn="l">
              <a:defRPr sz="4350" b="1">
                <a:solidFill>
                  <a:srgbClr val="14243A"/>
                </a:solidFill>
                <a:latin typeface="Segoe UI"/>
                <a:ea typeface="Segoe UI"/>
                <a:cs typeface="Segoe UI"/>
              </a:defRPr>
            </a:lvl6pPr>
            <a:lvl7pPr algn="l">
              <a:defRPr sz="4350" b="1">
                <a:solidFill>
                  <a:srgbClr val="14243A"/>
                </a:solidFill>
                <a:latin typeface="Segoe UI"/>
                <a:ea typeface="Segoe UI"/>
                <a:cs typeface="Segoe UI"/>
              </a:defRPr>
            </a:lvl7pPr>
            <a:lvl8pPr algn="l">
              <a:defRPr sz="4350" b="1">
                <a:solidFill>
                  <a:srgbClr val="14243A"/>
                </a:solidFill>
                <a:latin typeface="Segoe UI"/>
                <a:ea typeface="Segoe UI"/>
                <a:cs typeface="Segoe UI"/>
              </a:defRPr>
            </a:lvl8pPr>
            <a:lvl9pPr algn="l">
              <a:defRPr sz="4350" b="1">
                <a:solidFill>
                  <a:srgbClr val="14243A"/>
                </a:solidFill>
                <a:latin typeface="Segoe UI"/>
                <a:ea typeface="Segoe UI"/>
                <a:cs typeface="Segoe UI"/>
              </a:defRPr>
            </a:lvl9pPr>
          </a:lstStyle>
          <a:p xmlns:a="http://schemas.openxmlformats.org/drawingml/2006/main">
            <a:pPr algn="l">
              <a:lnSpc>
                <a:spcPct val="92000"/>
              </a:lnSpc>
              <a:buNone/>
              <a:defRPr sz="4350" b="1">
                <a:solidFill>
                  <a:srgbClr val="14243A"/>
                </a:solidFill>
                <a:latin typeface="Segoe UI"/>
                <a:ea typeface="Segoe UI"/>
                <a:cs typeface="Segoe UI"/>
              </a:defRPr>
            </a:pPr>
            <a:r>
              <a:rPr sz="4350" b="1">
                <a:solidFill>
                  <a:srgbClr val="14243A"/>
                </a:solidFill>
                <a:latin typeface="Segoe UI"/>
                <a:ea typeface="Segoe UI"/>
                <a:cs typeface="Segoe UI"/>
              </a:rPr>
              <a:t>QUAN CHENGHAO</a:t>
            </a:r>
          </a:p>
        </p:txBody>
      </p:sp>
      <p:sp>
        <p:nvSpPr>
          <p:cNvPr id="6" name="person-line">
            <a:extLst xmlns:a="http://schemas.openxmlformats.org/drawingml/2006/main">
              <a:ext uri="{FF2B5EF4-FFF2-40B4-BE49-F238E27FC236}">
                <a16:creationId xmlns:a16="http://schemas.microsoft.com/office/drawing/2014/main" id="{7DB15EEE-AB82-4AF4-8C14-A8091FE08DCB}"/>
              </a:ext>
            </a:extLst>
          </p:cNvPr>
          <p:cNvSpPr>
            <a:spLocks xmlns:a="http://schemas.openxmlformats.org/drawingml/2006/main" noGrp="1"/>
          </p:cNvSpPr>
          <p:nvPr/>
        </p:nvSpPr>
        <p:spPr>
          <a:xfrm xmlns:a="http://schemas.openxmlformats.org/drawingml/2006/main">
            <a:off x="609600" y="2181225"/>
            <a:ext cx="800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Malgun Gothic"/>
                <a:ea typeface="Malgun Gothic"/>
                <a:cs typeface="Malgun Gothic"/>
              </a:defRPr>
            </a:defPPr>
            <a:lvl1pPr algn="l">
              <a:defRPr sz="1575" b="1">
                <a:solidFill>
                  <a:srgbClr val="14243A"/>
                </a:solidFill>
                <a:latin typeface="Malgun Gothic"/>
                <a:ea typeface="Malgun Gothic"/>
                <a:cs typeface="Malgun Gothic"/>
              </a:defRPr>
            </a:lvl1pPr>
            <a:lvl2pPr algn="l">
              <a:defRPr sz="1575" b="1">
                <a:solidFill>
                  <a:srgbClr val="14243A"/>
                </a:solidFill>
                <a:latin typeface="Malgun Gothic"/>
                <a:ea typeface="Malgun Gothic"/>
                <a:cs typeface="Malgun Gothic"/>
              </a:defRPr>
            </a:lvl2pPr>
            <a:lvl3pPr algn="l">
              <a:defRPr sz="1575" b="1">
                <a:solidFill>
                  <a:srgbClr val="14243A"/>
                </a:solidFill>
                <a:latin typeface="Malgun Gothic"/>
                <a:ea typeface="Malgun Gothic"/>
                <a:cs typeface="Malgun Gothic"/>
              </a:defRPr>
            </a:lvl3pPr>
            <a:lvl4pPr algn="l">
              <a:defRPr sz="1575" b="1">
                <a:solidFill>
                  <a:srgbClr val="14243A"/>
                </a:solidFill>
                <a:latin typeface="Malgun Gothic"/>
                <a:ea typeface="Malgun Gothic"/>
                <a:cs typeface="Malgun Gothic"/>
              </a:defRPr>
            </a:lvl4pPr>
            <a:lvl5pPr algn="l">
              <a:defRPr sz="1575" b="1">
                <a:solidFill>
                  <a:srgbClr val="14243A"/>
                </a:solidFill>
                <a:latin typeface="Malgun Gothic"/>
                <a:ea typeface="Malgun Gothic"/>
                <a:cs typeface="Malgun Gothic"/>
              </a:defRPr>
            </a:lvl5pPr>
            <a:lvl6pPr algn="l">
              <a:defRPr sz="1575" b="1">
                <a:solidFill>
                  <a:srgbClr val="14243A"/>
                </a:solidFill>
                <a:latin typeface="Malgun Gothic"/>
                <a:ea typeface="Malgun Gothic"/>
                <a:cs typeface="Malgun Gothic"/>
              </a:defRPr>
            </a:lvl6pPr>
            <a:lvl7pPr algn="l">
              <a:defRPr sz="1575" b="1">
                <a:solidFill>
                  <a:srgbClr val="14243A"/>
                </a:solidFill>
                <a:latin typeface="Malgun Gothic"/>
                <a:ea typeface="Malgun Gothic"/>
                <a:cs typeface="Malgun Gothic"/>
              </a:defRPr>
            </a:lvl7pPr>
            <a:lvl8pPr algn="l">
              <a:defRPr sz="1575" b="1">
                <a:solidFill>
                  <a:srgbClr val="14243A"/>
                </a:solidFill>
                <a:latin typeface="Malgun Gothic"/>
                <a:ea typeface="Malgun Gothic"/>
                <a:cs typeface="Malgun Gothic"/>
              </a:defRPr>
            </a:lvl8pPr>
            <a:lvl9pPr algn="l">
              <a:defRPr sz="1575" b="1">
                <a:solidFill>
                  <a:srgbClr val="14243A"/>
                </a:solidFill>
                <a:latin typeface="Malgun Gothic"/>
                <a:ea typeface="Malgun Gothic"/>
                <a:cs typeface="Malgun Gothic"/>
              </a:defRPr>
            </a:lvl9pPr>
          </a:lstStyle>
          <a:p xmlns:a="http://schemas.openxmlformats.org/drawingml/2006/main">
            <a:pPr algn="l">
              <a:lnSpc>
                <a:spcPct val="112000"/>
              </a:lnSpc>
              <a:buNone/>
              <a:defRPr sz="1575" b="1">
                <a:solidFill>
                  <a:srgbClr val="14243A"/>
                </a:solidFill>
                <a:latin typeface="Malgun Gothic"/>
                <a:ea typeface="Malgun Gothic"/>
                <a:cs typeface="Malgun Gothic"/>
              </a:defRPr>
            </a:pPr>
            <a:r>
              <a:rPr sz="1575" b="1">
                <a:solidFill>
                  <a:srgbClr val="14243A"/>
                </a:solidFill>
                <a:latin typeface="Malgun Gothic"/>
                <a:ea typeface="Malgun Gothic"/>
                <a:cs typeface="Malgun Gothic"/>
              </a:rPr>
              <a:t>Dr. 권성호 (QUAN CHENGHAO)  |  Dogu Robotics · Dogu X</a:t>
            </a:r>
          </a:p>
        </p:txBody>
      </p:sp>
      <p:sp>
        <p:nvSpPr>
          <p:cNvPr id="7" name="short-intro">
            <a:extLst xmlns:a="http://schemas.openxmlformats.org/drawingml/2006/main">
              <a:ext uri="{FF2B5EF4-FFF2-40B4-BE49-F238E27FC236}">
                <a16:creationId xmlns:a16="http://schemas.microsoft.com/office/drawing/2014/main" id="{F8A86064-24B7-4293-86E3-0189A1FE8CA2}"/>
              </a:ext>
            </a:extLst>
          </p:cNvPr>
          <p:cNvSpPr>
            <a:spLocks xmlns:a="http://schemas.openxmlformats.org/drawingml/2006/main" noGrp="1"/>
          </p:cNvSpPr>
          <p:nvPr/>
        </p:nvSpPr>
        <p:spPr>
          <a:xfrm xmlns:a="http://schemas.openxmlformats.org/drawingml/2006/main">
            <a:off x="609600" y="2647950"/>
            <a:ext cx="7715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8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Joined Dogu Robotics in 2020. Led software and R&amp;D, served as CTO.</a:t>
            </a:r>
          </a:p>
          <a:p xmlns:a="http://schemas.openxmlformats.org/drawingml/2006/main">
            <a:pPr algn="l">
              <a:lnSpc>
                <a:spcPct val="118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Leading Dogu X since early 2026.</a:t>
            </a:r>
          </a:p>
        </p:txBody>
      </p:sp>
      <p:sp>
        <p:nvSpPr>
          <p:cNvPr id="8" name="section-rule">
            <a:extLst xmlns:a="http://schemas.openxmlformats.org/drawingml/2006/main">
              <a:ext uri="{FF2B5EF4-FFF2-40B4-BE49-F238E27FC236}">
                <a16:creationId xmlns:a16="http://schemas.microsoft.com/office/drawing/2014/main" id="{B521A37B-9F94-4D94-89C2-8A8C3687703A}"/>
              </a:ext>
            </a:extLst>
          </p:cNvPr>
          <p:cNvSpPr>
            <a:spLocks xmlns:a="http://schemas.openxmlformats.org/drawingml/2006/main" noGrp="1"/>
          </p:cNvSpPr>
          <p:nvPr/>
        </p:nvSpPr>
        <p:spPr>
          <a:xfrm xmlns:a="http://schemas.openxmlformats.org/drawingml/2006/main">
            <a:off x="609600" y="3400425"/>
            <a:ext cx="7715250" cy="0"/>
          </a:xfrm>
          <a:prstGeom xmlns:a="http://schemas.openxmlformats.org/drawingml/2006/main" prst="line">
            <a:avLst/>
          </a:prstGeom>
          <a:noFill xmlns:a="http://schemas.openxmlformats.org/drawingml/2006/main"/>
          <a:ln xmlns:a="http://schemas.openxmlformats.org/drawingml/2006/main" w="14288">
            <a:solidFill>
              <a:srgbClr val="BBC6D6"/>
            </a:solidFill>
            <a:prstDash val="solid"/>
          </a:ln>
        </p:spPr>
      </p:sp>
      <p:sp>
        <p:nvSpPr>
          <p:cNvPr id="9" name="label-현재">
            <a:extLst xmlns:a="http://schemas.openxmlformats.org/drawingml/2006/main">
              <a:ext uri="{FF2B5EF4-FFF2-40B4-BE49-F238E27FC236}">
                <a16:creationId xmlns:a16="http://schemas.microsoft.com/office/drawing/2014/main" id="{7116FCD2-27B1-410F-A71C-089BF4C77F2C}"/>
              </a:ext>
            </a:extLst>
          </p:cNvPr>
          <p:cNvSpPr>
            <a:spLocks xmlns:a="http://schemas.openxmlformats.org/drawingml/2006/main" noGrp="1"/>
          </p:cNvSpPr>
          <p:nvPr/>
        </p:nvSpPr>
        <p:spPr>
          <a:xfrm xmlns:a="http://schemas.openxmlformats.org/drawingml/2006/main">
            <a:off x="609600" y="3638550"/>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Focus</a:t>
            </a:r>
          </a:p>
        </p:txBody>
      </p:sp>
      <p:sp>
        <p:nvSpPr>
          <p:cNvPr id="10" name="value-현재">
            <a:extLst xmlns:a="http://schemas.openxmlformats.org/drawingml/2006/main">
              <a:ext uri="{FF2B5EF4-FFF2-40B4-BE49-F238E27FC236}">
                <a16:creationId xmlns:a16="http://schemas.microsoft.com/office/drawing/2014/main" id="{0AA4DFD5-3B5C-4137-9CF4-5A78127A6535}"/>
              </a:ext>
            </a:extLst>
          </p:cNvPr>
          <p:cNvSpPr>
            <a:spLocks xmlns:a="http://schemas.openxmlformats.org/drawingml/2006/main" noGrp="1"/>
          </p:cNvSpPr>
          <p:nvPr/>
        </p:nvSpPr>
        <p:spPr>
          <a:xfrm xmlns:a="http://schemas.openxmlformats.org/drawingml/2006/main">
            <a:off x="1628775" y="3629025"/>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Quadruped wheeled robots, arms and security fleets</a:t>
            </a:r>
          </a:p>
        </p:txBody>
      </p:sp>
      <p:sp>
        <p:nvSpPr>
          <p:cNvPr id="11" name="label-운영">
            <a:extLst xmlns:a="http://schemas.openxmlformats.org/drawingml/2006/main">
              <a:ext uri="{FF2B5EF4-FFF2-40B4-BE49-F238E27FC236}">
                <a16:creationId xmlns:a16="http://schemas.microsoft.com/office/drawing/2014/main" id="{0DC02289-FD66-485B-AB75-181F27F773F1}"/>
              </a:ext>
            </a:extLst>
          </p:cNvPr>
          <p:cNvSpPr>
            <a:spLocks xmlns:a="http://schemas.openxmlformats.org/drawingml/2006/main" noGrp="1"/>
          </p:cNvSpPr>
          <p:nvPr/>
        </p:nvSpPr>
        <p:spPr>
          <a:xfrm xmlns:a="http://schemas.openxmlformats.org/drawingml/2006/main">
            <a:off x="609600" y="4086225"/>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Field</a:t>
            </a:r>
          </a:p>
        </p:txBody>
      </p:sp>
      <p:sp>
        <p:nvSpPr>
          <p:cNvPr id="12" name="value-운영">
            <a:extLst xmlns:a="http://schemas.openxmlformats.org/drawingml/2006/main">
              <a:ext uri="{FF2B5EF4-FFF2-40B4-BE49-F238E27FC236}">
                <a16:creationId xmlns:a16="http://schemas.microsoft.com/office/drawing/2014/main" id="{65549345-C929-49B3-BFB3-2B59D6D63ED0}"/>
              </a:ext>
            </a:extLst>
          </p:cNvPr>
          <p:cNvSpPr>
            <a:spLocks xmlns:a="http://schemas.openxmlformats.org/drawingml/2006/main" noGrp="1"/>
          </p:cNvSpPr>
          <p:nvPr/>
        </p:nvSpPr>
        <p:spPr>
          <a:xfrm xmlns:a="http://schemas.openxmlformats.org/drawingml/2006/main">
            <a:off x="1628775" y="4076700"/>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130 robots operating across Korea, deployment expertise</a:t>
            </a:r>
          </a:p>
        </p:txBody>
      </p:sp>
      <p:sp>
        <p:nvSpPr>
          <p:cNvPr id="13" name="label-학습">
            <a:extLst xmlns:a="http://schemas.openxmlformats.org/drawingml/2006/main">
              <a:ext uri="{FF2B5EF4-FFF2-40B4-BE49-F238E27FC236}">
                <a16:creationId xmlns:a16="http://schemas.microsoft.com/office/drawing/2014/main" id="{36D9C36E-E19C-4118-820D-BD3F96CAA6FF}"/>
              </a:ext>
            </a:extLst>
          </p:cNvPr>
          <p:cNvSpPr>
            <a:spLocks xmlns:a="http://schemas.openxmlformats.org/drawingml/2006/main" noGrp="1"/>
          </p:cNvSpPr>
          <p:nvPr/>
        </p:nvSpPr>
        <p:spPr>
          <a:xfrm xmlns:a="http://schemas.openxmlformats.org/drawingml/2006/main">
            <a:off x="609600" y="4533900"/>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Learn</a:t>
            </a:r>
          </a:p>
        </p:txBody>
      </p:sp>
      <p:sp>
        <p:nvSpPr>
          <p:cNvPr id="14" name="value-학습">
            <a:extLst xmlns:a="http://schemas.openxmlformats.org/drawingml/2006/main">
              <a:ext uri="{FF2B5EF4-FFF2-40B4-BE49-F238E27FC236}">
                <a16:creationId xmlns:a16="http://schemas.microsoft.com/office/drawing/2014/main" id="{1F60B451-B4A8-48B3-8AC3-D9FB30A85C77}"/>
              </a:ext>
            </a:extLst>
          </p:cNvPr>
          <p:cNvSpPr>
            <a:spLocks xmlns:a="http://schemas.openxmlformats.org/drawingml/2006/main" noGrp="1"/>
          </p:cNvSpPr>
          <p:nvPr/>
        </p:nvSpPr>
        <p:spPr>
          <a:xfrm xmlns:a="http://schemas.openxmlformats.org/drawingml/2006/main">
            <a:off x="1628775" y="4524375"/>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VLM/VLA, reinforcement learning and robot intelligence</a:t>
            </a:r>
          </a:p>
        </p:txBody>
      </p:sp>
      <p:sp>
        <p:nvSpPr>
          <p:cNvPr id="15" name="label-공유">
            <a:extLst xmlns:a="http://schemas.openxmlformats.org/drawingml/2006/main">
              <a:ext uri="{FF2B5EF4-FFF2-40B4-BE49-F238E27FC236}">
                <a16:creationId xmlns:a16="http://schemas.microsoft.com/office/drawing/2014/main" id="{6C7F86D1-4556-40EB-88E7-67EF1B0A1D37}"/>
              </a:ext>
            </a:extLst>
          </p:cNvPr>
          <p:cNvSpPr>
            <a:spLocks xmlns:a="http://schemas.openxmlformats.org/drawingml/2006/main" noGrp="1"/>
          </p:cNvSpPr>
          <p:nvPr/>
        </p:nvSpPr>
        <p:spPr>
          <a:xfrm xmlns:a="http://schemas.openxmlformats.org/drawingml/2006/main">
            <a:off x="609600" y="4981575"/>
            <a:ext cx="9048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2456D8"/>
                </a:solidFill>
                <a:latin typeface="Malgun Gothic"/>
                <a:ea typeface="Malgun Gothic"/>
                <a:cs typeface="Malgun Gothic"/>
              </a:defRPr>
            </a:defPPr>
            <a:lvl1pPr algn="l">
              <a:defRPr sz="1425" b="1">
                <a:solidFill>
                  <a:srgbClr val="2456D8"/>
                </a:solidFill>
                <a:latin typeface="Malgun Gothic"/>
                <a:ea typeface="Malgun Gothic"/>
                <a:cs typeface="Malgun Gothic"/>
              </a:defRPr>
            </a:lvl1pPr>
            <a:lvl2pPr algn="l">
              <a:defRPr sz="1425" b="1">
                <a:solidFill>
                  <a:srgbClr val="2456D8"/>
                </a:solidFill>
                <a:latin typeface="Malgun Gothic"/>
                <a:ea typeface="Malgun Gothic"/>
                <a:cs typeface="Malgun Gothic"/>
              </a:defRPr>
            </a:lvl2pPr>
            <a:lvl3pPr algn="l">
              <a:defRPr sz="1425" b="1">
                <a:solidFill>
                  <a:srgbClr val="2456D8"/>
                </a:solidFill>
                <a:latin typeface="Malgun Gothic"/>
                <a:ea typeface="Malgun Gothic"/>
                <a:cs typeface="Malgun Gothic"/>
              </a:defRPr>
            </a:lvl3pPr>
            <a:lvl4pPr algn="l">
              <a:defRPr sz="1425" b="1">
                <a:solidFill>
                  <a:srgbClr val="2456D8"/>
                </a:solidFill>
                <a:latin typeface="Malgun Gothic"/>
                <a:ea typeface="Malgun Gothic"/>
                <a:cs typeface="Malgun Gothic"/>
              </a:defRPr>
            </a:lvl4pPr>
            <a:lvl5pPr algn="l">
              <a:defRPr sz="1425" b="1">
                <a:solidFill>
                  <a:srgbClr val="2456D8"/>
                </a:solidFill>
                <a:latin typeface="Malgun Gothic"/>
                <a:ea typeface="Malgun Gothic"/>
                <a:cs typeface="Malgun Gothic"/>
              </a:defRPr>
            </a:lvl5pPr>
            <a:lvl6pPr algn="l">
              <a:defRPr sz="1425" b="1">
                <a:solidFill>
                  <a:srgbClr val="2456D8"/>
                </a:solidFill>
                <a:latin typeface="Malgun Gothic"/>
                <a:ea typeface="Malgun Gothic"/>
                <a:cs typeface="Malgun Gothic"/>
              </a:defRPr>
            </a:lvl6pPr>
            <a:lvl7pPr algn="l">
              <a:defRPr sz="1425" b="1">
                <a:solidFill>
                  <a:srgbClr val="2456D8"/>
                </a:solidFill>
                <a:latin typeface="Malgun Gothic"/>
                <a:ea typeface="Malgun Gothic"/>
                <a:cs typeface="Malgun Gothic"/>
              </a:defRPr>
            </a:lvl7pPr>
            <a:lvl8pPr algn="l">
              <a:defRPr sz="1425" b="1">
                <a:solidFill>
                  <a:srgbClr val="2456D8"/>
                </a:solidFill>
                <a:latin typeface="Malgun Gothic"/>
                <a:ea typeface="Malgun Gothic"/>
                <a:cs typeface="Malgun Gothic"/>
              </a:defRPr>
            </a:lvl8pPr>
            <a:lvl9pPr algn="l">
              <a:defRPr sz="1425" b="1">
                <a:solidFill>
                  <a:srgbClr val="2456D8"/>
                </a:solidFill>
                <a:latin typeface="Malgun Gothic"/>
                <a:ea typeface="Malgun Gothic"/>
                <a:cs typeface="Malgun Gothic"/>
              </a:defRPr>
            </a:lvl9pPr>
          </a:lstStyle>
          <a:p xmlns:a="http://schemas.openxmlformats.org/drawingml/2006/main">
            <a:pPr algn="l">
              <a:lnSpc>
                <a:spcPct val="112000"/>
              </a:lnSpc>
              <a:buNone/>
              <a:defRPr sz="1425" b="1">
                <a:solidFill>
                  <a:srgbClr val="2456D8"/>
                </a:solidFill>
                <a:latin typeface="Malgun Gothic"/>
                <a:ea typeface="Malgun Gothic"/>
                <a:cs typeface="Malgun Gothic"/>
              </a:defRPr>
            </a:pPr>
            <a:r>
              <a:rPr sz="1425" b="1">
                <a:solidFill>
                  <a:srgbClr val="2456D8"/>
                </a:solidFill>
                <a:latin typeface="Malgun Gothic"/>
                <a:ea typeface="Malgun Gothic"/>
                <a:cs typeface="Malgun Gothic"/>
              </a:rPr>
              <a:t>Share</a:t>
            </a:r>
          </a:p>
        </p:txBody>
      </p:sp>
      <p:sp>
        <p:nvSpPr>
          <p:cNvPr id="16" name="value-공유">
            <a:extLst xmlns:a="http://schemas.openxmlformats.org/drawingml/2006/main">
              <a:ext uri="{FF2B5EF4-FFF2-40B4-BE49-F238E27FC236}">
                <a16:creationId xmlns:a16="http://schemas.microsoft.com/office/drawing/2014/main" id="{D8F54508-BD51-4758-9CD3-90FF2DD1DE98}"/>
              </a:ext>
            </a:extLst>
          </p:cNvPr>
          <p:cNvSpPr>
            <a:spLocks xmlns:a="http://schemas.openxmlformats.org/drawingml/2006/main" noGrp="1"/>
          </p:cNvSpPr>
          <p:nvPr/>
        </p:nvSpPr>
        <p:spPr>
          <a:xfrm xmlns:a="http://schemas.openxmlformats.org/drawingml/2006/main">
            <a:off x="1628775" y="4972050"/>
            <a:ext cx="67532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4243A"/>
                </a:solidFill>
                <a:latin typeface="Malgun Gothic"/>
                <a:ea typeface="Malgun Gothic"/>
                <a:cs typeface="Malgun Gothic"/>
              </a:defRPr>
            </a:defPPr>
            <a:lvl1pPr algn="l">
              <a:defRPr sz="1500" b="0">
                <a:solidFill>
                  <a:srgbClr val="14243A"/>
                </a:solidFill>
                <a:latin typeface="Malgun Gothic"/>
                <a:ea typeface="Malgun Gothic"/>
                <a:cs typeface="Malgun Gothic"/>
              </a:defRPr>
            </a:lvl1pPr>
            <a:lvl2pPr algn="l">
              <a:defRPr sz="1500" b="0">
                <a:solidFill>
                  <a:srgbClr val="14243A"/>
                </a:solidFill>
                <a:latin typeface="Malgun Gothic"/>
                <a:ea typeface="Malgun Gothic"/>
                <a:cs typeface="Malgun Gothic"/>
              </a:defRPr>
            </a:lvl2pPr>
            <a:lvl3pPr algn="l">
              <a:defRPr sz="1500" b="0">
                <a:solidFill>
                  <a:srgbClr val="14243A"/>
                </a:solidFill>
                <a:latin typeface="Malgun Gothic"/>
                <a:ea typeface="Malgun Gothic"/>
                <a:cs typeface="Malgun Gothic"/>
              </a:defRPr>
            </a:lvl3pPr>
            <a:lvl4pPr algn="l">
              <a:defRPr sz="1500" b="0">
                <a:solidFill>
                  <a:srgbClr val="14243A"/>
                </a:solidFill>
                <a:latin typeface="Malgun Gothic"/>
                <a:ea typeface="Malgun Gothic"/>
                <a:cs typeface="Malgun Gothic"/>
              </a:defRPr>
            </a:lvl4pPr>
            <a:lvl5pPr algn="l">
              <a:defRPr sz="1500" b="0">
                <a:solidFill>
                  <a:srgbClr val="14243A"/>
                </a:solidFill>
                <a:latin typeface="Malgun Gothic"/>
                <a:ea typeface="Malgun Gothic"/>
                <a:cs typeface="Malgun Gothic"/>
              </a:defRPr>
            </a:lvl5pPr>
            <a:lvl6pPr algn="l">
              <a:defRPr sz="1500" b="0">
                <a:solidFill>
                  <a:srgbClr val="14243A"/>
                </a:solidFill>
                <a:latin typeface="Malgun Gothic"/>
                <a:ea typeface="Malgun Gothic"/>
                <a:cs typeface="Malgun Gothic"/>
              </a:defRPr>
            </a:lvl6pPr>
            <a:lvl7pPr algn="l">
              <a:defRPr sz="1500" b="0">
                <a:solidFill>
                  <a:srgbClr val="14243A"/>
                </a:solidFill>
                <a:latin typeface="Malgun Gothic"/>
                <a:ea typeface="Malgun Gothic"/>
                <a:cs typeface="Malgun Gothic"/>
              </a:defRPr>
            </a:lvl7pPr>
            <a:lvl8pPr algn="l">
              <a:defRPr sz="1500" b="0">
                <a:solidFill>
                  <a:srgbClr val="14243A"/>
                </a:solidFill>
                <a:latin typeface="Malgun Gothic"/>
                <a:ea typeface="Malgun Gothic"/>
                <a:cs typeface="Malgun Gothic"/>
              </a:defRPr>
            </a:lvl8pPr>
            <a:lvl9pPr algn="l">
              <a:defRPr sz="1500" b="0">
                <a:solidFill>
                  <a:srgbClr val="14243A"/>
                </a:solidFill>
                <a:latin typeface="Malgun Gothic"/>
                <a:ea typeface="Malgun Gothic"/>
                <a:cs typeface="Malgun Gothic"/>
              </a:defRPr>
            </a:lvl9pPr>
          </a:lstStyle>
          <a:p xmlns:a="http://schemas.openxmlformats.org/drawingml/2006/main">
            <a:pPr algn="l">
              <a:lnSpc>
                <a:spcPct val="116000"/>
              </a:lnSpc>
              <a:buNone/>
              <a:defRPr sz="1500" b="0">
                <a:solidFill>
                  <a:srgbClr val="14243A"/>
                </a:solidFill>
                <a:latin typeface="Malgun Gothic"/>
                <a:ea typeface="Malgun Gothic"/>
                <a:cs typeface="Malgun Gothic"/>
              </a:defRPr>
            </a:pPr>
            <a:r>
              <a:rPr sz="1500" b="0">
                <a:solidFill>
                  <a:srgbClr val="14243A"/>
                </a:solidFill>
                <a:latin typeface="Malgun Gothic"/>
                <a:ea typeface="Malgun Gothic"/>
                <a:cs typeface="Malgun Gothic"/>
              </a:rPr>
              <a:t>Field lessons and joint experiments in patrol security</a:t>
            </a:r>
          </a:p>
        </p:txBody>
      </p:sp>
      <p:sp>
        <p:nvSpPr>
          <p:cNvPr id="18" name="goal-copy">
            <a:extLst xmlns:a="http://schemas.openxmlformats.org/drawingml/2006/main">
              <a:ext uri="{FF2B5EF4-FFF2-40B4-BE49-F238E27FC236}">
                <a16:creationId xmlns:a16="http://schemas.microsoft.com/office/drawing/2014/main" id="{C9D9CF6C-069E-4A35-9BE6-2EBA4DCC401E}"/>
              </a:ext>
            </a:extLst>
          </p:cNvPr>
          <p:cNvSpPr>
            <a:spLocks xmlns:a="http://schemas.openxmlformats.org/drawingml/2006/main" noGrp="1"/>
          </p:cNvSpPr>
          <p:nvPr/>
        </p:nvSpPr>
        <p:spPr>
          <a:xfrm xmlns:a="http://schemas.openxmlformats.org/drawingml/2006/main">
            <a:off x="609600" y="5972175"/>
            <a:ext cx="790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4243A"/>
                </a:solidFill>
                <a:latin typeface="Malgun Gothic"/>
                <a:ea typeface="Malgun Gothic"/>
                <a:cs typeface="Malgun Gothic"/>
              </a:defRPr>
            </a:defPPr>
            <a:lvl1pPr algn="l">
              <a:defRPr sz="1350" b="0">
                <a:solidFill>
                  <a:srgbClr val="14243A"/>
                </a:solidFill>
                <a:latin typeface="Malgun Gothic"/>
                <a:ea typeface="Malgun Gothic"/>
                <a:cs typeface="Malgun Gothic"/>
              </a:defRPr>
            </a:lvl1pPr>
            <a:lvl2pPr algn="l">
              <a:defRPr sz="1350" b="0">
                <a:solidFill>
                  <a:srgbClr val="14243A"/>
                </a:solidFill>
                <a:latin typeface="Malgun Gothic"/>
                <a:ea typeface="Malgun Gothic"/>
                <a:cs typeface="Malgun Gothic"/>
              </a:defRPr>
            </a:lvl2pPr>
            <a:lvl3pPr algn="l">
              <a:defRPr sz="1350" b="0">
                <a:solidFill>
                  <a:srgbClr val="14243A"/>
                </a:solidFill>
                <a:latin typeface="Malgun Gothic"/>
                <a:ea typeface="Malgun Gothic"/>
                <a:cs typeface="Malgun Gothic"/>
              </a:defRPr>
            </a:lvl3pPr>
            <a:lvl4pPr algn="l">
              <a:defRPr sz="1350" b="0">
                <a:solidFill>
                  <a:srgbClr val="14243A"/>
                </a:solidFill>
                <a:latin typeface="Malgun Gothic"/>
                <a:ea typeface="Malgun Gothic"/>
                <a:cs typeface="Malgun Gothic"/>
              </a:defRPr>
            </a:lvl4pPr>
            <a:lvl5pPr algn="l">
              <a:defRPr sz="1350" b="0">
                <a:solidFill>
                  <a:srgbClr val="14243A"/>
                </a:solidFill>
                <a:latin typeface="Malgun Gothic"/>
                <a:ea typeface="Malgun Gothic"/>
                <a:cs typeface="Malgun Gothic"/>
              </a:defRPr>
            </a:lvl5pPr>
            <a:lvl6pPr algn="l">
              <a:defRPr sz="1350" b="0">
                <a:solidFill>
                  <a:srgbClr val="14243A"/>
                </a:solidFill>
                <a:latin typeface="Malgun Gothic"/>
                <a:ea typeface="Malgun Gothic"/>
                <a:cs typeface="Malgun Gothic"/>
              </a:defRPr>
            </a:lvl6pPr>
            <a:lvl7pPr algn="l">
              <a:defRPr sz="1350" b="0">
                <a:solidFill>
                  <a:srgbClr val="14243A"/>
                </a:solidFill>
                <a:latin typeface="Malgun Gothic"/>
                <a:ea typeface="Malgun Gothic"/>
                <a:cs typeface="Malgun Gothic"/>
              </a:defRPr>
            </a:lvl7pPr>
            <a:lvl8pPr algn="l">
              <a:defRPr sz="1350" b="0">
                <a:solidFill>
                  <a:srgbClr val="14243A"/>
                </a:solidFill>
                <a:latin typeface="Malgun Gothic"/>
                <a:ea typeface="Malgun Gothic"/>
                <a:cs typeface="Malgun Gothic"/>
              </a:defRPr>
            </a:lvl8pPr>
            <a:lvl9pPr algn="l">
              <a:defRPr sz="1350" b="0">
                <a:solidFill>
                  <a:srgbClr val="14243A"/>
                </a:solidFill>
                <a:latin typeface="Malgun Gothic"/>
                <a:ea typeface="Malgun Gothic"/>
                <a:cs typeface="Malgun Gothic"/>
              </a:defRPr>
            </a:lvl9pPr>
          </a:lstStyle>
          <a:p xmlns:a="http://schemas.openxmlformats.org/drawingml/2006/main">
            <a:pPr algn="l">
              <a:lnSpc>
                <a:spcPct val="112000"/>
              </a:lnSpc>
              <a:buNone/>
              <a:defRPr sz="1350" b="0">
                <a:solidFill>
                  <a:srgbClr val="14243A"/>
                </a:solidFill>
                <a:latin typeface="Malgun Gothic"/>
                <a:ea typeface="Malgun Gothic"/>
                <a:cs typeface="Malgun Gothic"/>
              </a:defRPr>
            </a:pPr>
            <a:r>
              <a:rPr sz="1350" b="0">
                <a:solidFill>
                  <a:srgbClr val="14243A"/>
                </a:solidFill>
                <a:latin typeface="Malgun Gothic"/>
                <a:ea typeface="Malgun Gothic"/>
                <a:cs typeface="Malgun Gothic"/>
              </a:rPr>
              <a:t>Learning and experimenting to advance patrol and security robotics.</a:t>
            </a:r>
          </a:p>
        </p:txBody>
      </p:sp>
      <p:sp>
        <p:nvSpPr>
          <p:cNvPr id="19" name="qr-white-frame">
            <a:extLst xmlns:a="http://schemas.openxmlformats.org/drawingml/2006/main">
              <a:ext uri="{FF2B5EF4-FFF2-40B4-BE49-F238E27FC236}">
                <a16:creationId xmlns:a16="http://schemas.microsoft.com/office/drawing/2014/main" id="{69063B68-F8F5-4E95-B013-A5E1F2105D6A}"/>
              </a:ext>
            </a:extLst>
          </p:cNvPr>
          <p:cNvSpPr>
            <a:spLocks xmlns:a="http://schemas.openxmlformats.org/drawingml/2006/main" noGrp="1"/>
          </p:cNvSpPr>
          <p:nvPr/>
        </p:nvSpPr>
        <p:spPr>
          <a:xfrm xmlns:a="http://schemas.openxmlformats.org/drawingml/2006/main">
            <a:off x="9496425" y="4562475"/>
            <a:ext cx="1504950" cy="1504950"/>
          </a:xfrm>
          <a:prstGeom xmlns:a="http://schemas.openxmlformats.org/drawingml/2006/main" prst="rect">
            <a:avLst>
              <a:gd name="adj" fmla="val 5634"/>
            </a:avLst>
          </a:prstGeom>
          <a:solidFill xmlns:a="http://schemas.openxmlformats.org/drawingml/2006/main">
            <a:srgbClr val="FFFFFF"/>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ajor"/>
        </p:style>
      </p:sp>
      <p:pic>
        <p:nvPicPr>
          <p:cNvPr id="44" name="">
            <a:extLst xmlns:a="http://schemas.openxmlformats.org/drawingml/2006/main">
              <a:ext uri="{FF2B5EF4-FFF2-40B4-BE49-F238E27FC236}">
                <a16:creationId xmlns:a16="http://schemas.microsoft.com/office/drawing/2014/main" id="{C6B0F997-5DBA-4DF0-8D5C-FF85E52A254C}"/>
              </a:ext>
            </a:extLst>
          </p:cNvPr>
          <p:cNvPicPr>
            <a:picLocks xmlns:a="http://schemas.openxmlformats.org/drawingml/2006/main" noChangeAspect="1"/>
          </p:cNvPicPr>
          <p:nvPr/>
        </p:nvPicPr>
        <p:blipFill>
          <a:blip xmlns:r="http://schemas.openxmlformats.org/officeDocument/2006/relationships" xmlns:a="http://schemas.openxmlformats.org/drawingml/2006/main" r:embed="R6ce3dd04ae4347b2"/>
          <a:stretch xmlns:a="http://schemas.openxmlformats.org/drawingml/2006/main"/>
        </p:blipFill>
        <p:spPr>
          <a:xfrm xmlns:a="http://schemas.openxmlformats.org/drawingml/2006/main">
            <a:off x="9601200" y="4667250"/>
            <a:ext cx="1295400" cy="1295400"/>
          </a:xfrm>
          <a:prstGeom xmlns:a="http://schemas.openxmlformats.org/drawingml/2006/main" prst="rect">
            <a:avLst/>
          </a:prstGeom>
        </p:spPr>
      </p:pic>
      <p:sp>
        <p:nvSpPr>
          <p:cNvPr id="21" name="qr-caption">
            <a:extLst xmlns:a="http://schemas.openxmlformats.org/drawingml/2006/main">
              <a:ext uri="{FF2B5EF4-FFF2-40B4-BE49-F238E27FC236}">
                <a16:creationId xmlns:a16="http://schemas.microsoft.com/office/drawing/2014/main" id="{B5847CE7-67CE-4D94-9A17-B6004789341C}"/>
              </a:ext>
            </a:extLst>
          </p:cNvPr>
          <p:cNvSpPr>
            <a:spLocks xmlns:a="http://schemas.openxmlformats.org/drawingml/2006/main" noGrp="1"/>
          </p:cNvSpPr>
          <p:nvPr/>
        </p:nvSpPr>
        <p:spPr>
          <a:xfrm xmlns:a="http://schemas.openxmlformats.org/drawingml/2006/main">
            <a:off x="9201150" y="611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125" b="1">
                <a:solidFill>
                  <a:srgbClr val="14243A"/>
                </a:solidFill>
                <a:latin typeface="Malgun Gothic"/>
                <a:ea typeface="Malgun Gothic"/>
                <a:cs typeface="Malgun Gothic"/>
              </a:defRPr>
            </a:defPPr>
            <a:lvl1pPr algn="ctr">
              <a:defRPr sz="1125" b="1">
                <a:solidFill>
                  <a:srgbClr val="14243A"/>
                </a:solidFill>
                <a:latin typeface="Malgun Gothic"/>
                <a:ea typeface="Malgun Gothic"/>
                <a:cs typeface="Malgun Gothic"/>
              </a:defRPr>
            </a:lvl1pPr>
            <a:lvl2pPr algn="ctr">
              <a:defRPr sz="1125" b="1">
                <a:solidFill>
                  <a:srgbClr val="14243A"/>
                </a:solidFill>
                <a:latin typeface="Malgun Gothic"/>
                <a:ea typeface="Malgun Gothic"/>
                <a:cs typeface="Malgun Gothic"/>
              </a:defRPr>
            </a:lvl2pPr>
            <a:lvl3pPr algn="ctr">
              <a:defRPr sz="1125" b="1">
                <a:solidFill>
                  <a:srgbClr val="14243A"/>
                </a:solidFill>
                <a:latin typeface="Malgun Gothic"/>
                <a:ea typeface="Malgun Gothic"/>
                <a:cs typeface="Malgun Gothic"/>
              </a:defRPr>
            </a:lvl3pPr>
            <a:lvl4pPr algn="ctr">
              <a:defRPr sz="1125" b="1">
                <a:solidFill>
                  <a:srgbClr val="14243A"/>
                </a:solidFill>
                <a:latin typeface="Malgun Gothic"/>
                <a:ea typeface="Malgun Gothic"/>
                <a:cs typeface="Malgun Gothic"/>
              </a:defRPr>
            </a:lvl4pPr>
            <a:lvl5pPr algn="ctr">
              <a:defRPr sz="1125" b="1">
                <a:solidFill>
                  <a:srgbClr val="14243A"/>
                </a:solidFill>
                <a:latin typeface="Malgun Gothic"/>
                <a:ea typeface="Malgun Gothic"/>
                <a:cs typeface="Malgun Gothic"/>
              </a:defRPr>
            </a:lvl5pPr>
            <a:lvl6pPr algn="ctr">
              <a:defRPr sz="1125" b="1">
                <a:solidFill>
                  <a:srgbClr val="14243A"/>
                </a:solidFill>
                <a:latin typeface="Malgun Gothic"/>
                <a:ea typeface="Malgun Gothic"/>
                <a:cs typeface="Malgun Gothic"/>
              </a:defRPr>
            </a:lvl6pPr>
            <a:lvl7pPr algn="ctr">
              <a:defRPr sz="1125" b="1">
                <a:solidFill>
                  <a:srgbClr val="14243A"/>
                </a:solidFill>
                <a:latin typeface="Malgun Gothic"/>
                <a:ea typeface="Malgun Gothic"/>
                <a:cs typeface="Malgun Gothic"/>
              </a:defRPr>
            </a:lvl7pPr>
            <a:lvl8pPr algn="ctr">
              <a:defRPr sz="1125" b="1">
                <a:solidFill>
                  <a:srgbClr val="14243A"/>
                </a:solidFill>
                <a:latin typeface="Malgun Gothic"/>
                <a:ea typeface="Malgun Gothic"/>
                <a:cs typeface="Malgun Gothic"/>
              </a:defRPr>
            </a:lvl8pPr>
            <a:lvl9pPr algn="ctr">
              <a:defRPr sz="1125" b="1">
                <a:solidFill>
                  <a:srgbClr val="14243A"/>
                </a:solidFill>
                <a:latin typeface="Malgun Gothic"/>
                <a:ea typeface="Malgun Gothic"/>
                <a:cs typeface="Malgun Gothic"/>
              </a:defRPr>
            </a:lvl9pPr>
          </a:lstStyle>
          <a:p xmlns:a="http://schemas.openxmlformats.org/drawingml/2006/main">
            <a:pPr algn="ctr">
              <a:lnSpc>
                <a:spcPct val="112000"/>
              </a:lnSpc>
              <a:buNone/>
              <a:defRPr sz="1125" b="1">
                <a:solidFill>
                  <a:srgbClr val="14243A"/>
                </a:solidFill>
                <a:latin typeface="Malgun Gothic"/>
                <a:ea typeface="Malgun Gothic"/>
                <a:cs typeface="Malgun Gothic"/>
              </a:defRPr>
            </a:pPr>
            <a:r>
              <a:rPr sz="1125" b="1">
                <a:solidFill>
                  <a:srgbClr val="14243A"/>
                </a:solidFill>
                <a:latin typeface="Malgun Gothic"/>
                <a:ea typeface="Malgun Gothic"/>
                <a:cs typeface="Malgun Gothic"/>
              </a:rPr>
              <a:t>Profile / Contact</a:t>
            </a:r>
          </a:p>
        </p:txBody>
      </p:sp>
      <p:sp>
        <p:nvSpPr>
          <p:cNvPr id="22" name="qr-url">
            <a:extLst xmlns:a="http://schemas.openxmlformats.org/drawingml/2006/main">
              <a:ext uri="{FF2B5EF4-FFF2-40B4-BE49-F238E27FC236}">
                <a16:creationId xmlns:a16="http://schemas.microsoft.com/office/drawing/2014/main" id="{185C8393-1518-4F8D-96B6-FE6D3980352C}"/>
              </a:ext>
            </a:extLst>
          </p:cNvPr>
          <p:cNvSpPr>
            <a:spLocks xmlns:a="http://schemas.openxmlformats.org/drawingml/2006/main" noGrp="1"/>
          </p:cNvSpPr>
          <p:nvPr/>
        </p:nvSpPr>
        <p:spPr>
          <a:xfrm xmlns:a="http://schemas.openxmlformats.org/drawingml/2006/main">
            <a:off x="9086850" y="6381750"/>
            <a:ext cx="23241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14243A"/>
                </a:solidFill>
                <a:latin typeface="Segoe UI"/>
                <a:ea typeface="Segoe UI"/>
                <a:cs typeface="Segoe UI"/>
              </a:defRPr>
            </a:defPPr>
            <a:lvl1pPr algn="ctr">
              <a:defRPr sz="900" b="0">
                <a:solidFill>
                  <a:srgbClr val="14243A"/>
                </a:solidFill>
                <a:latin typeface="Segoe UI"/>
                <a:ea typeface="Segoe UI"/>
                <a:cs typeface="Segoe UI"/>
              </a:defRPr>
            </a:lvl1pPr>
            <a:lvl2pPr algn="ctr">
              <a:defRPr sz="900" b="0">
                <a:solidFill>
                  <a:srgbClr val="14243A"/>
                </a:solidFill>
                <a:latin typeface="Segoe UI"/>
                <a:ea typeface="Segoe UI"/>
                <a:cs typeface="Segoe UI"/>
              </a:defRPr>
            </a:lvl2pPr>
            <a:lvl3pPr algn="ctr">
              <a:defRPr sz="900" b="0">
                <a:solidFill>
                  <a:srgbClr val="14243A"/>
                </a:solidFill>
                <a:latin typeface="Segoe UI"/>
                <a:ea typeface="Segoe UI"/>
                <a:cs typeface="Segoe UI"/>
              </a:defRPr>
            </a:lvl3pPr>
            <a:lvl4pPr algn="ctr">
              <a:defRPr sz="900" b="0">
                <a:solidFill>
                  <a:srgbClr val="14243A"/>
                </a:solidFill>
                <a:latin typeface="Segoe UI"/>
                <a:ea typeface="Segoe UI"/>
                <a:cs typeface="Segoe UI"/>
              </a:defRPr>
            </a:lvl4pPr>
            <a:lvl5pPr algn="ctr">
              <a:defRPr sz="900" b="0">
                <a:solidFill>
                  <a:srgbClr val="14243A"/>
                </a:solidFill>
                <a:latin typeface="Segoe UI"/>
                <a:ea typeface="Segoe UI"/>
                <a:cs typeface="Segoe UI"/>
              </a:defRPr>
            </a:lvl5pPr>
            <a:lvl6pPr algn="ctr">
              <a:defRPr sz="900" b="0">
                <a:solidFill>
                  <a:srgbClr val="14243A"/>
                </a:solidFill>
                <a:latin typeface="Segoe UI"/>
                <a:ea typeface="Segoe UI"/>
                <a:cs typeface="Segoe UI"/>
              </a:defRPr>
            </a:lvl6pPr>
            <a:lvl7pPr algn="ctr">
              <a:defRPr sz="900" b="0">
                <a:solidFill>
                  <a:srgbClr val="14243A"/>
                </a:solidFill>
                <a:latin typeface="Segoe UI"/>
                <a:ea typeface="Segoe UI"/>
                <a:cs typeface="Segoe UI"/>
              </a:defRPr>
            </a:lvl7pPr>
            <a:lvl8pPr algn="ctr">
              <a:defRPr sz="900" b="0">
                <a:solidFill>
                  <a:srgbClr val="14243A"/>
                </a:solidFill>
                <a:latin typeface="Segoe UI"/>
                <a:ea typeface="Segoe UI"/>
                <a:cs typeface="Segoe UI"/>
              </a:defRPr>
            </a:lvl8pPr>
            <a:lvl9pPr algn="ctr">
              <a:defRPr sz="900" b="0">
                <a:solidFill>
                  <a:srgbClr val="14243A"/>
                </a:solidFill>
                <a:latin typeface="Segoe UI"/>
                <a:ea typeface="Segoe UI"/>
                <a:cs typeface="Segoe UI"/>
              </a:defRPr>
            </a:lvl9pPr>
          </a:lstStyle>
          <a:p xmlns:a="http://schemas.openxmlformats.org/drawingml/2006/main">
            <a:pPr algn="ctr">
              <a:lnSpc>
                <a:spcPct val="112000"/>
              </a:lnSpc>
              <a:buNone/>
              <a:defRPr sz="900" b="0">
                <a:solidFill>
                  <a:srgbClr val="14243A"/>
                </a:solidFill>
                <a:latin typeface="Segoe UI"/>
                <a:ea typeface="Segoe UI"/>
                <a:cs typeface="Segoe UI"/>
              </a:defRPr>
            </a:pPr>
            <a:r>
              <a:rPr sz="900" b="0">
                <a:solidFill>
                  <a:srgbClr val="14243A"/>
                </a:solidFill>
                <a:latin typeface="Segoe UI"/>
                <a:ea typeface="Segoe UI"/>
                <a:cs typeface="Segoe UI"/>
              </a:rPr>
              <a:t>github.io/CHENGHAO-QUAN</a:t>
            </a:r>
          </a:p>
        </p:txBody>
      </p:sp>
      <p:sp>
        <p:nvSpPr>
          <p:cNvPr id="45" name="approved-brand-line">
            <a:extLst xmlns:a="http://schemas.openxmlformats.org/drawingml/2006/main">
              <a:ext uri="{FF2B5EF4-FFF2-40B4-BE49-F238E27FC236}">
                <a16:creationId xmlns:a16="http://schemas.microsoft.com/office/drawing/2014/main" id="{43285F10-7088-4629-81EC-8F409127820F}"/>
              </a:ext>
            </a:extLst>
          </p:cNvPr>
          <p:cNvSpPr>
            <a:spLocks xmlns:a="http://schemas.openxmlformats.org/drawingml/2006/main" noGrp="1"/>
          </p:cNvSpPr>
          <p:nvPr/>
        </p:nvSpPr>
        <p:spPr>
          <a:xfrm xmlns:a="http://schemas.openxmlformats.org/drawingml/2006/main">
            <a:off x="609600" y="1628775"/>
            <a:ext cx="781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56D8"/>
                </a:solidFill>
                <a:latin typeface="Malgun Gothic"/>
                <a:ea typeface="Malgun Gothic"/>
                <a:cs typeface="Malgun Gothic"/>
              </a:defRPr>
            </a:defPPr>
            <a:lvl1pPr algn="l">
              <a:defRPr sz="2250" b="1">
                <a:solidFill>
                  <a:srgbClr val="2456D8"/>
                </a:solidFill>
                <a:latin typeface="Malgun Gothic"/>
                <a:ea typeface="Malgun Gothic"/>
                <a:cs typeface="Malgun Gothic"/>
              </a:defRPr>
            </a:lvl1pPr>
            <a:lvl2pPr algn="l">
              <a:defRPr sz="2250" b="1">
                <a:solidFill>
                  <a:srgbClr val="2456D8"/>
                </a:solidFill>
                <a:latin typeface="Malgun Gothic"/>
                <a:ea typeface="Malgun Gothic"/>
                <a:cs typeface="Malgun Gothic"/>
              </a:defRPr>
            </a:lvl2pPr>
            <a:lvl3pPr algn="l">
              <a:defRPr sz="2250" b="1">
                <a:solidFill>
                  <a:srgbClr val="2456D8"/>
                </a:solidFill>
                <a:latin typeface="Malgun Gothic"/>
                <a:ea typeface="Malgun Gothic"/>
                <a:cs typeface="Malgun Gothic"/>
              </a:defRPr>
            </a:lvl3pPr>
            <a:lvl4pPr algn="l">
              <a:defRPr sz="2250" b="1">
                <a:solidFill>
                  <a:srgbClr val="2456D8"/>
                </a:solidFill>
                <a:latin typeface="Malgun Gothic"/>
                <a:ea typeface="Malgun Gothic"/>
                <a:cs typeface="Malgun Gothic"/>
              </a:defRPr>
            </a:lvl4pPr>
            <a:lvl5pPr algn="l">
              <a:defRPr sz="2250" b="1">
                <a:solidFill>
                  <a:srgbClr val="2456D8"/>
                </a:solidFill>
                <a:latin typeface="Malgun Gothic"/>
                <a:ea typeface="Malgun Gothic"/>
                <a:cs typeface="Malgun Gothic"/>
              </a:defRPr>
            </a:lvl5pPr>
            <a:lvl6pPr algn="l">
              <a:defRPr sz="2250" b="1">
                <a:solidFill>
                  <a:srgbClr val="2456D8"/>
                </a:solidFill>
                <a:latin typeface="Malgun Gothic"/>
                <a:ea typeface="Malgun Gothic"/>
                <a:cs typeface="Malgun Gothic"/>
              </a:defRPr>
            </a:lvl6pPr>
            <a:lvl7pPr algn="l">
              <a:defRPr sz="2250" b="1">
                <a:solidFill>
                  <a:srgbClr val="2456D8"/>
                </a:solidFill>
                <a:latin typeface="Malgun Gothic"/>
                <a:ea typeface="Malgun Gothic"/>
                <a:cs typeface="Malgun Gothic"/>
              </a:defRPr>
            </a:lvl7pPr>
            <a:lvl8pPr algn="l">
              <a:defRPr sz="2250" b="1">
                <a:solidFill>
                  <a:srgbClr val="2456D8"/>
                </a:solidFill>
                <a:latin typeface="Malgun Gothic"/>
                <a:ea typeface="Malgun Gothic"/>
                <a:cs typeface="Malgun Gothic"/>
              </a:defRPr>
            </a:lvl8pPr>
            <a:lvl9pPr algn="l">
              <a:defRPr sz="2250" b="1">
                <a:solidFill>
                  <a:srgbClr val="2456D8"/>
                </a:solidFill>
                <a:latin typeface="Malgun Gothic"/>
                <a:ea typeface="Malgun Gothic"/>
                <a:cs typeface="Malgun Gothic"/>
              </a:defRPr>
            </a:lvl9pPr>
          </a:lstStyle>
          <a:p xmlns:a="http://schemas.openxmlformats.org/drawingml/2006/main">
            <a:pPr algn="l">
              <a:defRPr sz="2250" b="1">
                <a:solidFill>
                  <a:srgbClr val="2456D8"/>
                </a:solidFill>
                <a:latin typeface="Malgun Gothic"/>
                <a:ea typeface="Malgun Gothic"/>
                <a:cs typeface="Malgun Gothic"/>
              </a:defRPr>
            </a:pPr>
            <a:r>
              <a:rPr sz="2250" b="1">
                <a:solidFill>
                  <a:srgbClr val="2456D8"/>
                </a:solidFill>
                <a:latin typeface="Malgun Gothic"/>
                <a:ea typeface="Malgun Gothic"/>
                <a:cs typeface="Malgun Gothic"/>
              </a:rPr>
              <a:t>From curiosity to working systems.</a:t>
            </a:r>
          </a:p>
        </p:txBody>
      </p:sp>
      <p:sp>
        <p:nvSpPr>
          <p:cNvPr id="46" name="original-ambition">
            <a:extLst xmlns:a="http://schemas.openxmlformats.org/drawingml/2006/main">
              <a:ext uri="{FF2B5EF4-FFF2-40B4-BE49-F238E27FC236}">
                <a16:creationId xmlns:a16="http://schemas.microsoft.com/office/drawing/2014/main" id="{25873CBB-16D8-4FE5-8BA6-AAF9565F023F}"/>
              </a:ext>
            </a:extLst>
          </p:cNvPr>
          <p:cNvSpPr>
            <a:spLocks xmlns:a="http://schemas.openxmlformats.org/drawingml/2006/main" noGrp="1"/>
          </p:cNvSpPr>
          <p:nvPr/>
        </p:nvSpPr>
        <p:spPr>
          <a:xfrm xmlns:a="http://schemas.openxmlformats.org/drawingml/2006/main">
            <a:off x="609600" y="55626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456D8"/>
                </a:solidFill>
                <a:latin typeface="Malgun Gothic"/>
                <a:ea typeface="Malgun Gothic"/>
                <a:cs typeface="Malgun Gothic"/>
              </a:defRPr>
            </a:defPPr>
            <a:lvl1pPr algn="l">
              <a:defRPr sz="1500" b="1">
                <a:solidFill>
                  <a:srgbClr val="2456D8"/>
                </a:solidFill>
                <a:latin typeface="Malgun Gothic"/>
                <a:ea typeface="Malgun Gothic"/>
                <a:cs typeface="Malgun Gothic"/>
              </a:defRPr>
            </a:lvl1pPr>
            <a:lvl2pPr algn="l">
              <a:defRPr sz="1500" b="1">
                <a:solidFill>
                  <a:srgbClr val="2456D8"/>
                </a:solidFill>
                <a:latin typeface="Malgun Gothic"/>
                <a:ea typeface="Malgun Gothic"/>
                <a:cs typeface="Malgun Gothic"/>
              </a:defRPr>
            </a:lvl2pPr>
            <a:lvl3pPr algn="l">
              <a:defRPr sz="1500" b="1">
                <a:solidFill>
                  <a:srgbClr val="2456D8"/>
                </a:solidFill>
                <a:latin typeface="Malgun Gothic"/>
                <a:ea typeface="Malgun Gothic"/>
                <a:cs typeface="Malgun Gothic"/>
              </a:defRPr>
            </a:lvl3pPr>
            <a:lvl4pPr algn="l">
              <a:defRPr sz="1500" b="1">
                <a:solidFill>
                  <a:srgbClr val="2456D8"/>
                </a:solidFill>
                <a:latin typeface="Malgun Gothic"/>
                <a:ea typeface="Malgun Gothic"/>
                <a:cs typeface="Malgun Gothic"/>
              </a:defRPr>
            </a:lvl4pPr>
            <a:lvl5pPr algn="l">
              <a:defRPr sz="1500" b="1">
                <a:solidFill>
                  <a:srgbClr val="2456D8"/>
                </a:solidFill>
                <a:latin typeface="Malgun Gothic"/>
                <a:ea typeface="Malgun Gothic"/>
                <a:cs typeface="Malgun Gothic"/>
              </a:defRPr>
            </a:lvl5pPr>
            <a:lvl6pPr algn="l">
              <a:defRPr sz="1500" b="1">
                <a:solidFill>
                  <a:srgbClr val="2456D8"/>
                </a:solidFill>
                <a:latin typeface="Malgun Gothic"/>
                <a:ea typeface="Malgun Gothic"/>
                <a:cs typeface="Malgun Gothic"/>
              </a:defRPr>
            </a:lvl6pPr>
            <a:lvl7pPr algn="l">
              <a:defRPr sz="1500" b="1">
                <a:solidFill>
                  <a:srgbClr val="2456D8"/>
                </a:solidFill>
                <a:latin typeface="Malgun Gothic"/>
                <a:ea typeface="Malgun Gothic"/>
                <a:cs typeface="Malgun Gothic"/>
              </a:defRPr>
            </a:lvl7pPr>
            <a:lvl8pPr algn="l">
              <a:defRPr sz="1500" b="1">
                <a:solidFill>
                  <a:srgbClr val="2456D8"/>
                </a:solidFill>
                <a:latin typeface="Malgun Gothic"/>
                <a:ea typeface="Malgun Gothic"/>
                <a:cs typeface="Malgun Gothic"/>
              </a:defRPr>
            </a:lvl8pPr>
            <a:lvl9pPr algn="l">
              <a:defRPr sz="1500" b="1">
                <a:solidFill>
                  <a:srgbClr val="2456D8"/>
                </a:solidFill>
                <a:latin typeface="Malgun Gothic"/>
                <a:ea typeface="Malgun Gothic"/>
                <a:cs typeface="Malgun Gothic"/>
              </a:defRPr>
            </a:lvl9pPr>
          </a:lstStyle>
          <a:p xmlns:a="http://schemas.openxmlformats.org/drawingml/2006/main">
            <a:pPr algn="l">
              <a:defRPr sz="1500" b="1">
                <a:solidFill>
                  <a:srgbClr val="2456D8"/>
                </a:solidFill>
                <a:latin typeface="Malgun Gothic"/>
                <a:ea typeface="Malgun Gothic"/>
                <a:cs typeface="Malgun Gothic"/>
              </a:defRPr>
            </a:pPr>
            <a:r>
              <a:rPr sz="1500" b="1">
                <a:solidFill>
                  <a:srgbClr val="2456D8"/>
                </a:solidFill>
                <a:latin typeface="Malgun Gothic"/>
                <a:ea typeface="Malgun Gothic"/>
                <a:cs typeface="Malgun Gothic"/>
              </a:rPr>
              <a:t>Patrol &amp; security robotics in the AI era Aiming for No. 1</a:t>
            </a:r>
          </a:p>
        </p:txBody>
      </p:sp>
      <p:pic>
        <p:nvPicPr>
          <p:cNvPr id="47" name="">
            <a:extLst xmlns:a="http://schemas.openxmlformats.org/drawingml/2006/main">
              <a:ext uri="{FF2B5EF4-FFF2-40B4-BE49-F238E27FC236}">
                <a16:creationId xmlns:a16="http://schemas.microsoft.com/office/drawing/2014/main" id="{54111FD7-545A-4457-87CC-8599B90AAA5F}"/>
              </a:ext>
            </a:extLst>
          </p:cNvPr>
          <p:cNvPicPr>
            <a:picLocks xmlns:a="http://schemas.openxmlformats.org/drawingml/2006/main" noChangeAspect="1"/>
          </p:cNvPicPr>
          <p:nvPr/>
        </p:nvPicPr>
        <p:blipFill>
          <a:blip xmlns:r="http://schemas.openxmlformats.org/officeDocument/2006/relationships" xmlns:a="http://schemas.openxmlformats.org/drawingml/2006/main" r:embed="Re7ed39bf36634307"/>
          <a:stretch xmlns:a="http://schemas.openxmlformats.org/drawingml/2006/main"/>
        </p:blipFill>
        <p:spPr>
          <a:xfrm xmlns:a="http://schemas.openxmlformats.org/drawingml/2006/main">
            <a:off x="8867775" y="577045"/>
            <a:ext cx="2743200" cy="2884510"/>
          </a:xfrm>
          <a:prstGeom xmlns:a="http://schemas.openxmlformats.org/drawingml/2006/main" prst="rect">
            <a:avLst/>
          </a:prstGeom>
        </p:spPr>
      </p:pic>
      <p:sp>
        <p:nvSpPr>
          <p:cNvPr id="48" name="nuri-caption">
            <a:extLst xmlns:a="http://schemas.openxmlformats.org/drawingml/2006/main">
              <a:ext uri="{FF2B5EF4-FFF2-40B4-BE49-F238E27FC236}">
                <a16:creationId xmlns:a16="http://schemas.microsoft.com/office/drawing/2014/main" id="{FD3D1CED-E260-4EFD-86E0-9FFD155684AC}"/>
              </a:ext>
            </a:extLst>
          </p:cNvPr>
          <p:cNvSpPr>
            <a:spLocks xmlns:a="http://schemas.openxmlformats.org/drawingml/2006/main" noGrp="1"/>
          </p:cNvSpPr>
          <p:nvPr/>
        </p:nvSpPr>
        <p:spPr>
          <a:xfrm xmlns:a="http://schemas.openxmlformats.org/drawingml/2006/main">
            <a:off x="8886825" y="3571875"/>
            <a:ext cx="2705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43A"/>
                </a:solidFill>
                <a:latin typeface="Segoe UI"/>
                <a:ea typeface="Segoe UI"/>
                <a:cs typeface="Segoe UI"/>
              </a:defRPr>
            </a:defPPr>
            <a:lvl1pPr algn="ctr">
              <a:defRPr sz="1500" b="1">
                <a:solidFill>
                  <a:srgbClr val="14243A"/>
                </a:solidFill>
                <a:latin typeface="Segoe UI"/>
                <a:ea typeface="Segoe UI"/>
                <a:cs typeface="Segoe UI"/>
              </a:defRPr>
            </a:lvl1pPr>
            <a:lvl2pPr algn="ctr">
              <a:defRPr sz="1500" b="1">
                <a:solidFill>
                  <a:srgbClr val="14243A"/>
                </a:solidFill>
                <a:latin typeface="Segoe UI"/>
                <a:ea typeface="Segoe UI"/>
                <a:cs typeface="Segoe UI"/>
              </a:defRPr>
            </a:lvl2pPr>
            <a:lvl3pPr algn="ctr">
              <a:defRPr sz="1500" b="1">
                <a:solidFill>
                  <a:srgbClr val="14243A"/>
                </a:solidFill>
                <a:latin typeface="Segoe UI"/>
                <a:ea typeface="Segoe UI"/>
                <a:cs typeface="Segoe UI"/>
              </a:defRPr>
            </a:lvl3pPr>
            <a:lvl4pPr algn="ctr">
              <a:defRPr sz="1500" b="1">
                <a:solidFill>
                  <a:srgbClr val="14243A"/>
                </a:solidFill>
                <a:latin typeface="Segoe UI"/>
                <a:ea typeface="Segoe UI"/>
                <a:cs typeface="Segoe UI"/>
              </a:defRPr>
            </a:lvl4pPr>
            <a:lvl5pPr algn="ctr">
              <a:defRPr sz="1500" b="1">
                <a:solidFill>
                  <a:srgbClr val="14243A"/>
                </a:solidFill>
                <a:latin typeface="Segoe UI"/>
                <a:ea typeface="Segoe UI"/>
                <a:cs typeface="Segoe UI"/>
              </a:defRPr>
            </a:lvl5pPr>
            <a:lvl6pPr algn="ctr">
              <a:defRPr sz="1500" b="1">
                <a:solidFill>
                  <a:srgbClr val="14243A"/>
                </a:solidFill>
                <a:latin typeface="Segoe UI"/>
                <a:ea typeface="Segoe UI"/>
                <a:cs typeface="Segoe UI"/>
              </a:defRPr>
            </a:lvl6pPr>
            <a:lvl7pPr algn="ctr">
              <a:defRPr sz="1500" b="1">
                <a:solidFill>
                  <a:srgbClr val="14243A"/>
                </a:solidFill>
                <a:latin typeface="Segoe UI"/>
                <a:ea typeface="Segoe UI"/>
                <a:cs typeface="Segoe UI"/>
              </a:defRPr>
            </a:lvl7pPr>
            <a:lvl8pPr algn="ctr">
              <a:defRPr sz="1500" b="1">
                <a:solidFill>
                  <a:srgbClr val="14243A"/>
                </a:solidFill>
                <a:latin typeface="Segoe UI"/>
                <a:ea typeface="Segoe UI"/>
                <a:cs typeface="Segoe UI"/>
              </a:defRPr>
            </a:lvl8pPr>
            <a:lvl9pPr algn="ctr">
              <a:defRPr sz="1500" b="1">
                <a:solidFill>
                  <a:srgbClr val="14243A"/>
                </a:solidFill>
                <a:latin typeface="Segoe UI"/>
                <a:ea typeface="Segoe UI"/>
                <a:cs typeface="Segoe UI"/>
              </a:defRPr>
            </a:lvl9pPr>
          </a:lstStyle>
          <a:p xmlns:a="http://schemas.openxmlformats.org/drawingml/2006/main">
            <a:pPr algn="ctr">
              <a:defRPr sz="1500" b="1">
                <a:solidFill>
                  <a:srgbClr val="14243A"/>
                </a:solidFill>
                <a:latin typeface="Segoe UI"/>
                <a:ea typeface="Segoe UI"/>
                <a:cs typeface="Segoe UI"/>
              </a:defRPr>
            </a:pPr>
            <a:r>
              <a:rPr sz="1500" b="1">
                <a:solidFill>
                  <a:srgbClr val="14243A"/>
                </a:solidFill>
                <a:latin typeface="Segoe UI"/>
                <a:ea typeface="Segoe UI"/>
                <a:cs typeface="Segoe UI"/>
              </a:rPr>
              <a:t>Nuri</a:t>
            </a:r>
          </a:p>
        </p:txBody>
      </p:sp>
      <p:sp>
        <p:nvSpPr>
          <p:cNvPr id="49" name="community-caption">
            <a:extLst xmlns:a="http://schemas.openxmlformats.org/drawingml/2006/main">
              <a:ext uri="{FF2B5EF4-FFF2-40B4-BE49-F238E27FC236}">
                <a16:creationId xmlns:a16="http://schemas.microsoft.com/office/drawing/2014/main" id="{25B84D06-414A-4E8D-AA09-AA166B6DEECF}"/>
              </a:ext>
            </a:extLst>
          </p:cNvPr>
          <p:cNvSpPr>
            <a:spLocks xmlns:a="http://schemas.openxmlformats.org/drawingml/2006/main" noGrp="1"/>
          </p:cNvSpPr>
          <p:nvPr/>
        </p:nvSpPr>
        <p:spPr>
          <a:xfrm xmlns:a="http://schemas.openxmlformats.org/drawingml/2006/main">
            <a:off x="8648700" y="3905250"/>
            <a:ext cx="319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00" b="0">
                <a:solidFill>
                  <a:srgbClr val="14243A"/>
                </a:solidFill>
                <a:latin typeface="Segoe UI"/>
                <a:ea typeface="Segoe UI"/>
                <a:cs typeface="Segoe UI"/>
              </a:defRPr>
            </a:defPPr>
            <a:lvl1pPr algn="ctr">
              <a:defRPr sz="1200" b="0">
                <a:solidFill>
                  <a:srgbClr val="14243A"/>
                </a:solidFill>
                <a:latin typeface="Segoe UI"/>
                <a:ea typeface="Segoe UI"/>
                <a:cs typeface="Segoe UI"/>
              </a:defRPr>
            </a:lvl1pPr>
            <a:lvl2pPr algn="ctr">
              <a:defRPr sz="1200" b="0">
                <a:solidFill>
                  <a:srgbClr val="14243A"/>
                </a:solidFill>
                <a:latin typeface="Segoe UI"/>
                <a:ea typeface="Segoe UI"/>
                <a:cs typeface="Segoe UI"/>
              </a:defRPr>
            </a:lvl2pPr>
            <a:lvl3pPr algn="ctr">
              <a:defRPr sz="1200" b="0">
                <a:solidFill>
                  <a:srgbClr val="14243A"/>
                </a:solidFill>
                <a:latin typeface="Segoe UI"/>
                <a:ea typeface="Segoe UI"/>
                <a:cs typeface="Segoe UI"/>
              </a:defRPr>
            </a:lvl3pPr>
            <a:lvl4pPr algn="ctr">
              <a:defRPr sz="1200" b="0">
                <a:solidFill>
                  <a:srgbClr val="14243A"/>
                </a:solidFill>
                <a:latin typeface="Segoe UI"/>
                <a:ea typeface="Segoe UI"/>
                <a:cs typeface="Segoe UI"/>
              </a:defRPr>
            </a:lvl4pPr>
            <a:lvl5pPr algn="ctr">
              <a:defRPr sz="1200" b="0">
                <a:solidFill>
                  <a:srgbClr val="14243A"/>
                </a:solidFill>
                <a:latin typeface="Segoe UI"/>
                <a:ea typeface="Segoe UI"/>
                <a:cs typeface="Segoe UI"/>
              </a:defRPr>
            </a:lvl5pPr>
            <a:lvl6pPr algn="ctr">
              <a:defRPr sz="1200" b="0">
                <a:solidFill>
                  <a:srgbClr val="14243A"/>
                </a:solidFill>
                <a:latin typeface="Segoe UI"/>
                <a:ea typeface="Segoe UI"/>
                <a:cs typeface="Segoe UI"/>
              </a:defRPr>
            </a:lvl6pPr>
            <a:lvl7pPr algn="ctr">
              <a:defRPr sz="1200" b="0">
                <a:solidFill>
                  <a:srgbClr val="14243A"/>
                </a:solidFill>
                <a:latin typeface="Segoe UI"/>
                <a:ea typeface="Segoe UI"/>
                <a:cs typeface="Segoe UI"/>
              </a:defRPr>
            </a:lvl7pPr>
            <a:lvl8pPr algn="ctr">
              <a:defRPr sz="1200" b="0">
                <a:solidFill>
                  <a:srgbClr val="14243A"/>
                </a:solidFill>
                <a:latin typeface="Segoe UI"/>
                <a:ea typeface="Segoe UI"/>
                <a:cs typeface="Segoe UI"/>
              </a:defRPr>
            </a:lvl8pPr>
            <a:lvl9pPr algn="ctr">
              <a:defRPr sz="1200" b="0">
                <a:solidFill>
                  <a:srgbClr val="14243A"/>
                </a:solidFill>
                <a:latin typeface="Segoe UI"/>
                <a:ea typeface="Segoe UI"/>
                <a:cs typeface="Segoe UI"/>
              </a:defRPr>
            </a:lvl9pPr>
          </a:lstStyle>
          <a:p xmlns:a="http://schemas.openxmlformats.org/drawingml/2006/main">
            <a:pPr algn="ctr">
              <a:defRPr sz="1200" b="0">
                <a:solidFill>
                  <a:srgbClr val="14243A"/>
                </a:solidFill>
                <a:latin typeface="Segoe UI"/>
                <a:ea typeface="Segoe UI"/>
                <a:cs typeface="Segoe UI"/>
              </a:defRPr>
            </a:pPr>
            <a:r>
              <a:rPr sz="1200" b="0">
                <a:solidFill>
                  <a:srgbClr val="14243A"/>
                </a:solidFill>
                <a:latin typeface="Segoe UI"/>
                <a:ea typeface="Segoe UI"/>
                <a:cs typeface="Segoe UI"/>
              </a:rPr>
              <a:t>Community: SUNSHINE STUDIO</a:t>
            </a:r>
          </a:p>
        </p:txBody>
      </p:sp>
    </p:spTree>
    <p:extLst>
      <p:ext uri="{BB962C8B-B14F-4D97-AF65-F5344CB8AC3E}">
        <p14:creationId xmlns:p14="http://schemas.microsoft.com/office/powerpoint/2010/main" val="2138845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2026-10-23T04:19:06.0740000Z</dcterms:created>
  <dcterms:modified xsi:type="dcterms:W3CDTF">2026-10-23T04:19:06.0740000Z</dcterms:modified>
</coreProperties>
</file>